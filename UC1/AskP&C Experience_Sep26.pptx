
<file path=[Content_Types].xml><?xml version="1.0" encoding="utf-8"?>
<Types xmlns="http://schemas.openxmlformats.org/package/2006/content-types">
  <Default Extension="emf" ContentType="image/x-emf"/>
  <Default Extension="jpeg" ContentType="image/jpeg"/>
  <Default Extension="org&amp;utm_campaign=parser&amp;utm_content=thumbnail" ContentType="image/pn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61" r:id="rId5"/>
    <p:sldId id="259" r:id="rId6"/>
    <p:sldId id="260" r:id="rId7"/>
    <p:sldId id="2147483261" r:id="rId8"/>
    <p:sldId id="2147483262" r:id="rId9"/>
    <p:sldId id="2147483263" r:id="rId10"/>
    <p:sldId id="2147483265" r:id="rId11"/>
    <p:sldId id="2147483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8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94695"/>
  </p:normalViewPr>
  <p:slideViewPr>
    <p:cSldViewPr snapToGrid="0">
      <p:cViewPr>
        <p:scale>
          <a:sx n="91" d="100"/>
          <a:sy n="91" d="100"/>
        </p:scale>
        <p:origin x="1400" y="6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F230DF-26F4-4645-8400-DE4DA3F0CD93}" type="datetimeFigureOut">
              <a:rPr lang="en-US" smtClean="0"/>
              <a:t>9/9/26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515BD1-8D70-034C-AFC8-D9B1CD0B3F33}" type="slidenum">
              <a:rPr lang="en-US" smtClean="0"/>
              <a:t>‹#›</a:t>
            </a:fld>
            <a:endParaRPr lang="en-US"/>
          </a:p>
        </p:txBody>
      </p:sp>
    </p:spTree>
    <p:extLst>
      <p:ext uri="{BB962C8B-B14F-4D97-AF65-F5344CB8AC3E}">
        <p14:creationId xmlns:p14="http://schemas.microsoft.com/office/powerpoint/2010/main" val="3538393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515BD1-8D70-034C-AFC8-D9B1CD0B3F33}" type="slidenum">
              <a:rPr lang="en-US" smtClean="0"/>
              <a:t>6</a:t>
            </a:fld>
            <a:endParaRPr lang="en-US"/>
          </a:p>
        </p:txBody>
      </p:sp>
    </p:spTree>
    <p:extLst>
      <p:ext uri="{BB962C8B-B14F-4D97-AF65-F5344CB8AC3E}">
        <p14:creationId xmlns:p14="http://schemas.microsoft.com/office/powerpoint/2010/main" val="17991628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B59CA-1D0C-F0A8-B78B-BBD7641E8F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6FC52C-9A8D-6C3B-8D0B-528F9F03CF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D6A704-9B2D-AB05-D0C2-88BEE02802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8A267B-F804-336C-3A08-3B42563E2EBA}"/>
              </a:ext>
            </a:extLst>
          </p:cNvPr>
          <p:cNvSpPr>
            <a:spLocks noGrp="1"/>
          </p:cNvSpPr>
          <p:nvPr>
            <p:ph type="sldNum" sz="quarter" idx="5"/>
          </p:nvPr>
        </p:nvSpPr>
        <p:spPr/>
        <p:txBody>
          <a:bodyPr/>
          <a:lstStyle/>
          <a:p>
            <a:fld id="{E9515BD1-8D70-034C-AFC8-D9B1CD0B3F33}" type="slidenum">
              <a:rPr lang="en-US" smtClean="0"/>
              <a:t>7</a:t>
            </a:fld>
            <a:endParaRPr lang="en-US"/>
          </a:p>
        </p:txBody>
      </p:sp>
    </p:spTree>
    <p:extLst>
      <p:ext uri="{BB962C8B-B14F-4D97-AF65-F5344CB8AC3E}">
        <p14:creationId xmlns:p14="http://schemas.microsoft.com/office/powerpoint/2010/main" val="27858175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5D3A6-A14A-0886-E909-3DDFB034A4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E2C3A0-4FC0-F540-D1F3-CFEF057B32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AABB2B-5168-ABB2-C097-26D848F00C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581CBD-A5E7-4856-AD4A-DC92821309BC}"/>
              </a:ext>
            </a:extLst>
          </p:cNvPr>
          <p:cNvSpPr>
            <a:spLocks noGrp="1"/>
          </p:cNvSpPr>
          <p:nvPr>
            <p:ph type="sldNum" sz="quarter" idx="5"/>
          </p:nvPr>
        </p:nvSpPr>
        <p:spPr/>
        <p:txBody>
          <a:bodyPr/>
          <a:lstStyle/>
          <a:p>
            <a:fld id="{E9515BD1-8D70-034C-AFC8-D9B1CD0B3F33}" type="slidenum">
              <a:rPr lang="en-US" smtClean="0"/>
              <a:t>8</a:t>
            </a:fld>
            <a:endParaRPr lang="en-US"/>
          </a:p>
        </p:txBody>
      </p:sp>
    </p:spTree>
    <p:extLst>
      <p:ext uri="{BB962C8B-B14F-4D97-AF65-F5344CB8AC3E}">
        <p14:creationId xmlns:p14="http://schemas.microsoft.com/office/powerpoint/2010/main" val="19892275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996F5-ACDC-EBF2-D34A-0451FA09C5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6F4277B-836F-0986-E572-04A5844085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DC70423-030C-528E-92D4-C7790F24A457}"/>
              </a:ext>
            </a:extLst>
          </p:cNvPr>
          <p:cNvSpPr>
            <a:spLocks noGrp="1"/>
          </p:cNvSpPr>
          <p:nvPr>
            <p:ph type="dt" sz="half" idx="10"/>
          </p:nvPr>
        </p:nvSpPr>
        <p:spPr/>
        <p:txBody>
          <a:bodyPr/>
          <a:lstStyle/>
          <a:p>
            <a:fld id="{CB4401D6-7AC9-D241-94EF-682C5C26F9EF}" type="datetimeFigureOut">
              <a:rPr lang="en-US" smtClean="0"/>
              <a:t>9/9/26</a:t>
            </a:fld>
            <a:endParaRPr lang="en-US"/>
          </a:p>
        </p:txBody>
      </p:sp>
      <p:sp>
        <p:nvSpPr>
          <p:cNvPr id="5" name="Footer Placeholder 4">
            <a:extLst>
              <a:ext uri="{FF2B5EF4-FFF2-40B4-BE49-F238E27FC236}">
                <a16:creationId xmlns:a16="http://schemas.microsoft.com/office/drawing/2014/main" id="{332F4C17-6A56-5F2A-9029-1E4465FD76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6682A5-676B-C239-E2E4-40D82D7C5403}"/>
              </a:ext>
            </a:extLst>
          </p:cNvPr>
          <p:cNvSpPr>
            <a:spLocks noGrp="1"/>
          </p:cNvSpPr>
          <p:nvPr>
            <p:ph type="sldNum" sz="quarter" idx="12"/>
          </p:nvPr>
        </p:nvSpPr>
        <p:spPr/>
        <p:txBody>
          <a:bodyPr/>
          <a:lstStyle/>
          <a:p>
            <a:fld id="{F30B552D-EA1C-444C-B809-C1D37AD0CA4E}" type="slidenum">
              <a:rPr lang="en-US" smtClean="0"/>
              <a:t>‹#›</a:t>
            </a:fld>
            <a:endParaRPr lang="en-US"/>
          </a:p>
        </p:txBody>
      </p:sp>
    </p:spTree>
    <p:extLst>
      <p:ext uri="{BB962C8B-B14F-4D97-AF65-F5344CB8AC3E}">
        <p14:creationId xmlns:p14="http://schemas.microsoft.com/office/powerpoint/2010/main" val="657831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4B429-8569-B82A-538F-0B80AAB28B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1D5AD8-DAB4-CF34-5C44-55593D0420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852086-72C0-9577-5D0D-C10049637F84}"/>
              </a:ext>
            </a:extLst>
          </p:cNvPr>
          <p:cNvSpPr>
            <a:spLocks noGrp="1"/>
          </p:cNvSpPr>
          <p:nvPr>
            <p:ph type="dt" sz="half" idx="10"/>
          </p:nvPr>
        </p:nvSpPr>
        <p:spPr/>
        <p:txBody>
          <a:bodyPr/>
          <a:lstStyle/>
          <a:p>
            <a:fld id="{CB4401D6-7AC9-D241-94EF-682C5C26F9EF}" type="datetimeFigureOut">
              <a:rPr lang="en-US" smtClean="0"/>
              <a:t>9/9/26</a:t>
            </a:fld>
            <a:endParaRPr lang="en-US"/>
          </a:p>
        </p:txBody>
      </p:sp>
      <p:sp>
        <p:nvSpPr>
          <p:cNvPr id="5" name="Footer Placeholder 4">
            <a:extLst>
              <a:ext uri="{FF2B5EF4-FFF2-40B4-BE49-F238E27FC236}">
                <a16:creationId xmlns:a16="http://schemas.microsoft.com/office/drawing/2014/main" id="{FBA9CD92-ACEB-9568-9D43-A80F3F5D4D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510F32-4579-850C-792F-7A610508956D}"/>
              </a:ext>
            </a:extLst>
          </p:cNvPr>
          <p:cNvSpPr>
            <a:spLocks noGrp="1"/>
          </p:cNvSpPr>
          <p:nvPr>
            <p:ph type="sldNum" sz="quarter" idx="12"/>
          </p:nvPr>
        </p:nvSpPr>
        <p:spPr/>
        <p:txBody>
          <a:bodyPr/>
          <a:lstStyle/>
          <a:p>
            <a:fld id="{F30B552D-EA1C-444C-B809-C1D37AD0CA4E}" type="slidenum">
              <a:rPr lang="en-US" smtClean="0"/>
              <a:t>‹#›</a:t>
            </a:fld>
            <a:endParaRPr lang="en-US"/>
          </a:p>
        </p:txBody>
      </p:sp>
    </p:spTree>
    <p:extLst>
      <p:ext uri="{BB962C8B-B14F-4D97-AF65-F5344CB8AC3E}">
        <p14:creationId xmlns:p14="http://schemas.microsoft.com/office/powerpoint/2010/main" val="3604344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C831E-7C35-259D-FBC8-C7940A7E04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BF77D7B-447F-00A8-490F-05FABDA629F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BF218C-8284-4537-8735-58052BD95D1E}"/>
              </a:ext>
            </a:extLst>
          </p:cNvPr>
          <p:cNvSpPr>
            <a:spLocks noGrp="1"/>
          </p:cNvSpPr>
          <p:nvPr>
            <p:ph type="dt" sz="half" idx="10"/>
          </p:nvPr>
        </p:nvSpPr>
        <p:spPr/>
        <p:txBody>
          <a:bodyPr/>
          <a:lstStyle/>
          <a:p>
            <a:fld id="{CB4401D6-7AC9-D241-94EF-682C5C26F9EF}" type="datetimeFigureOut">
              <a:rPr lang="en-US" smtClean="0"/>
              <a:t>9/9/26</a:t>
            </a:fld>
            <a:endParaRPr lang="en-US"/>
          </a:p>
        </p:txBody>
      </p:sp>
      <p:sp>
        <p:nvSpPr>
          <p:cNvPr id="5" name="Footer Placeholder 4">
            <a:extLst>
              <a:ext uri="{FF2B5EF4-FFF2-40B4-BE49-F238E27FC236}">
                <a16:creationId xmlns:a16="http://schemas.microsoft.com/office/drawing/2014/main" id="{2A518B6B-401A-E029-E707-00631AE084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6CC2A4-BA6C-623E-C91B-F686A5BDF677}"/>
              </a:ext>
            </a:extLst>
          </p:cNvPr>
          <p:cNvSpPr>
            <a:spLocks noGrp="1"/>
          </p:cNvSpPr>
          <p:nvPr>
            <p:ph type="sldNum" sz="quarter" idx="12"/>
          </p:nvPr>
        </p:nvSpPr>
        <p:spPr/>
        <p:txBody>
          <a:bodyPr/>
          <a:lstStyle/>
          <a:p>
            <a:fld id="{F30B552D-EA1C-444C-B809-C1D37AD0CA4E}" type="slidenum">
              <a:rPr lang="en-US" smtClean="0"/>
              <a:t>‹#›</a:t>
            </a:fld>
            <a:endParaRPr lang="en-US"/>
          </a:p>
        </p:txBody>
      </p:sp>
    </p:spTree>
    <p:extLst>
      <p:ext uri="{BB962C8B-B14F-4D97-AF65-F5344CB8AC3E}">
        <p14:creationId xmlns:p14="http://schemas.microsoft.com/office/powerpoint/2010/main" val="1932907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2B62C-8E69-A39B-8614-DA0EF2ED8D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5EE1A2-4F4E-0CF9-341E-A41C4A33F3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755705F-BBA6-B119-B922-5127F72603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F265150-A89B-0FDB-D2DD-7AE9630E54D6}"/>
              </a:ext>
            </a:extLst>
          </p:cNvPr>
          <p:cNvSpPr>
            <a:spLocks noGrp="1"/>
          </p:cNvSpPr>
          <p:nvPr>
            <p:ph type="dt" sz="half" idx="10"/>
          </p:nvPr>
        </p:nvSpPr>
        <p:spPr/>
        <p:txBody>
          <a:bodyPr/>
          <a:lstStyle/>
          <a:p>
            <a:fld id="{CB4401D6-7AC9-D241-94EF-682C5C26F9EF}" type="datetimeFigureOut">
              <a:rPr lang="en-US" smtClean="0"/>
              <a:t>9/9/26</a:t>
            </a:fld>
            <a:endParaRPr lang="en-US"/>
          </a:p>
        </p:txBody>
      </p:sp>
      <p:sp>
        <p:nvSpPr>
          <p:cNvPr id="6" name="Footer Placeholder 5">
            <a:extLst>
              <a:ext uri="{FF2B5EF4-FFF2-40B4-BE49-F238E27FC236}">
                <a16:creationId xmlns:a16="http://schemas.microsoft.com/office/drawing/2014/main" id="{8554E5CC-CEA8-2ED2-E124-0EBBBB0E0D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FE5771-1B4E-824E-B18E-915BC6DCF1A3}"/>
              </a:ext>
            </a:extLst>
          </p:cNvPr>
          <p:cNvSpPr>
            <a:spLocks noGrp="1"/>
          </p:cNvSpPr>
          <p:nvPr>
            <p:ph type="sldNum" sz="quarter" idx="12"/>
          </p:nvPr>
        </p:nvSpPr>
        <p:spPr/>
        <p:txBody>
          <a:bodyPr/>
          <a:lstStyle/>
          <a:p>
            <a:fld id="{F30B552D-EA1C-444C-B809-C1D37AD0CA4E}" type="slidenum">
              <a:rPr lang="en-US" smtClean="0"/>
              <a:t>‹#›</a:t>
            </a:fld>
            <a:endParaRPr lang="en-US"/>
          </a:p>
        </p:txBody>
      </p:sp>
    </p:spTree>
    <p:extLst>
      <p:ext uri="{BB962C8B-B14F-4D97-AF65-F5344CB8AC3E}">
        <p14:creationId xmlns:p14="http://schemas.microsoft.com/office/powerpoint/2010/main" val="3838780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7DE87-BB83-C4DC-28E6-69139FC8634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67FCF9E-1FB4-81DF-F489-C41F74050D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534774-0D2C-4F8D-50F4-BD26DD4FB3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DC76195-4CD7-F36B-A9A6-708D75DF93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B56692-F69B-BED3-3BBD-3BC000B2E9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F42A75-6C8C-65CD-3AEE-D79D47BD4522}"/>
              </a:ext>
            </a:extLst>
          </p:cNvPr>
          <p:cNvSpPr>
            <a:spLocks noGrp="1"/>
          </p:cNvSpPr>
          <p:nvPr>
            <p:ph type="dt" sz="half" idx="10"/>
          </p:nvPr>
        </p:nvSpPr>
        <p:spPr/>
        <p:txBody>
          <a:bodyPr/>
          <a:lstStyle/>
          <a:p>
            <a:fld id="{CB4401D6-7AC9-D241-94EF-682C5C26F9EF}" type="datetimeFigureOut">
              <a:rPr lang="en-US" smtClean="0"/>
              <a:t>9/9/26</a:t>
            </a:fld>
            <a:endParaRPr lang="en-US"/>
          </a:p>
        </p:txBody>
      </p:sp>
      <p:sp>
        <p:nvSpPr>
          <p:cNvPr id="8" name="Footer Placeholder 7">
            <a:extLst>
              <a:ext uri="{FF2B5EF4-FFF2-40B4-BE49-F238E27FC236}">
                <a16:creationId xmlns:a16="http://schemas.microsoft.com/office/drawing/2014/main" id="{3F49FB36-D2DE-5740-BC62-06DFF5CF56A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7422EE9-9204-401F-5601-9FDE9AFC4284}"/>
              </a:ext>
            </a:extLst>
          </p:cNvPr>
          <p:cNvSpPr>
            <a:spLocks noGrp="1"/>
          </p:cNvSpPr>
          <p:nvPr>
            <p:ph type="sldNum" sz="quarter" idx="12"/>
          </p:nvPr>
        </p:nvSpPr>
        <p:spPr/>
        <p:txBody>
          <a:bodyPr/>
          <a:lstStyle/>
          <a:p>
            <a:fld id="{F30B552D-EA1C-444C-B809-C1D37AD0CA4E}" type="slidenum">
              <a:rPr lang="en-US" smtClean="0"/>
              <a:t>‹#›</a:t>
            </a:fld>
            <a:endParaRPr lang="en-US"/>
          </a:p>
        </p:txBody>
      </p:sp>
    </p:spTree>
    <p:extLst>
      <p:ext uri="{BB962C8B-B14F-4D97-AF65-F5344CB8AC3E}">
        <p14:creationId xmlns:p14="http://schemas.microsoft.com/office/powerpoint/2010/main" val="2402174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5AA6F-AB29-3FAE-E6C7-1807148AA81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326B01-A803-437B-3EA0-6794DDF59E89}"/>
              </a:ext>
            </a:extLst>
          </p:cNvPr>
          <p:cNvSpPr>
            <a:spLocks noGrp="1"/>
          </p:cNvSpPr>
          <p:nvPr>
            <p:ph type="dt" sz="half" idx="10"/>
          </p:nvPr>
        </p:nvSpPr>
        <p:spPr/>
        <p:txBody>
          <a:bodyPr/>
          <a:lstStyle/>
          <a:p>
            <a:fld id="{CB4401D6-7AC9-D241-94EF-682C5C26F9EF}" type="datetimeFigureOut">
              <a:rPr lang="en-US" smtClean="0"/>
              <a:t>9/9/26</a:t>
            </a:fld>
            <a:endParaRPr lang="en-US"/>
          </a:p>
        </p:txBody>
      </p:sp>
      <p:sp>
        <p:nvSpPr>
          <p:cNvPr id="4" name="Footer Placeholder 3">
            <a:extLst>
              <a:ext uri="{FF2B5EF4-FFF2-40B4-BE49-F238E27FC236}">
                <a16:creationId xmlns:a16="http://schemas.microsoft.com/office/drawing/2014/main" id="{C99E6814-8D40-9287-A016-53DA8F67CD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558BBB7-F355-1C63-7DB4-382B0C8FFA79}"/>
              </a:ext>
            </a:extLst>
          </p:cNvPr>
          <p:cNvSpPr>
            <a:spLocks noGrp="1"/>
          </p:cNvSpPr>
          <p:nvPr>
            <p:ph type="sldNum" sz="quarter" idx="12"/>
          </p:nvPr>
        </p:nvSpPr>
        <p:spPr/>
        <p:txBody>
          <a:bodyPr/>
          <a:lstStyle/>
          <a:p>
            <a:fld id="{F30B552D-EA1C-444C-B809-C1D37AD0CA4E}" type="slidenum">
              <a:rPr lang="en-US" smtClean="0"/>
              <a:t>‹#›</a:t>
            </a:fld>
            <a:endParaRPr lang="en-US"/>
          </a:p>
        </p:txBody>
      </p:sp>
    </p:spTree>
    <p:extLst>
      <p:ext uri="{BB962C8B-B14F-4D97-AF65-F5344CB8AC3E}">
        <p14:creationId xmlns:p14="http://schemas.microsoft.com/office/powerpoint/2010/main" val="121058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88ACF9-734E-D992-E998-FB2FAF2EBA43}"/>
              </a:ext>
            </a:extLst>
          </p:cNvPr>
          <p:cNvSpPr>
            <a:spLocks noGrp="1"/>
          </p:cNvSpPr>
          <p:nvPr>
            <p:ph type="dt" sz="half" idx="10"/>
          </p:nvPr>
        </p:nvSpPr>
        <p:spPr/>
        <p:txBody>
          <a:bodyPr/>
          <a:lstStyle/>
          <a:p>
            <a:fld id="{CB4401D6-7AC9-D241-94EF-682C5C26F9EF}" type="datetimeFigureOut">
              <a:rPr lang="en-US" smtClean="0"/>
              <a:t>9/9/26</a:t>
            </a:fld>
            <a:endParaRPr lang="en-US"/>
          </a:p>
        </p:txBody>
      </p:sp>
      <p:sp>
        <p:nvSpPr>
          <p:cNvPr id="3" name="Footer Placeholder 2">
            <a:extLst>
              <a:ext uri="{FF2B5EF4-FFF2-40B4-BE49-F238E27FC236}">
                <a16:creationId xmlns:a16="http://schemas.microsoft.com/office/drawing/2014/main" id="{5AFE9AF7-756C-1010-4DB6-746350F4509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443AAF4-063F-8D4C-99DB-65787A75DFB6}"/>
              </a:ext>
            </a:extLst>
          </p:cNvPr>
          <p:cNvSpPr>
            <a:spLocks noGrp="1"/>
          </p:cNvSpPr>
          <p:nvPr>
            <p:ph type="sldNum" sz="quarter" idx="12"/>
          </p:nvPr>
        </p:nvSpPr>
        <p:spPr/>
        <p:txBody>
          <a:bodyPr/>
          <a:lstStyle/>
          <a:p>
            <a:fld id="{F30B552D-EA1C-444C-B809-C1D37AD0CA4E}" type="slidenum">
              <a:rPr lang="en-US" smtClean="0"/>
              <a:t>‹#›</a:t>
            </a:fld>
            <a:endParaRPr lang="en-US"/>
          </a:p>
        </p:txBody>
      </p:sp>
    </p:spTree>
    <p:extLst>
      <p:ext uri="{BB962C8B-B14F-4D97-AF65-F5344CB8AC3E}">
        <p14:creationId xmlns:p14="http://schemas.microsoft.com/office/powerpoint/2010/main" val="3789944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09532-9C01-A852-1F60-2C7BB4F097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4A117BA-5D4F-FB85-3E4F-30249C3D9A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93FDEE-7782-37CA-B85C-E521F93B83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D3ED17-9992-9E92-95FF-372A15375643}"/>
              </a:ext>
            </a:extLst>
          </p:cNvPr>
          <p:cNvSpPr>
            <a:spLocks noGrp="1"/>
          </p:cNvSpPr>
          <p:nvPr>
            <p:ph type="dt" sz="half" idx="10"/>
          </p:nvPr>
        </p:nvSpPr>
        <p:spPr/>
        <p:txBody>
          <a:bodyPr/>
          <a:lstStyle/>
          <a:p>
            <a:fld id="{CB4401D6-7AC9-D241-94EF-682C5C26F9EF}" type="datetimeFigureOut">
              <a:rPr lang="en-US" smtClean="0"/>
              <a:t>9/9/26</a:t>
            </a:fld>
            <a:endParaRPr lang="en-US"/>
          </a:p>
        </p:txBody>
      </p:sp>
      <p:sp>
        <p:nvSpPr>
          <p:cNvPr id="6" name="Footer Placeholder 5">
            <a:extLst>
              <a:ext uri="{FF2B5EF4-FFF2-40B4-BE49-F238E27FC236}">
                <a16:creationId xmlns:a16="http://schemas.microsoft.com/office/drawing/2014/main" id="{95EF35EF-D256-8E2C-3E43-A9DAD5166F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A9A3C1-259D-9328-E518-9B5555DAABD0}"/>
              </a:ext>
            </a:extLst>
          </p:cNvPr>
          <p:cNvSpPr>
            <a:spLocks noGrp="1"/>
          </p:cNvSpPr>
          <p:nvPr>
            <p:ph type="sldNum" sz="quarter" idx="12"/>
          </p:nvPr>
        </p:nvSpPr>
        <p:spPr/>
        <p:txBody>
          <a:bodyPr/>
          <a:lstStyle/>
          <a:p>
            <a:fld id="{F30B552D-EA1C-444C-B809-C1D37AD0CA4E}" type="slidenum">
              <a:rPr lang="en-US" smtClean="0"/>
              <a:t>‹#›</a:t>
            </a:fld>
            <a:endParaRPr lang="en-US"/>
          </a:p>
        </p:txBody>
      </p:sp>
    </p:spTree>
    <p:extLst>
      <p:ext uri="{BB962C8B-B14F-4D97-AF65-F5344CB8AC3E}">
        <p14:creationId xmlns:p14="http://schemas.microsoft.com/office/powerpoint/2010/main" val="25635502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930A6-BF39-7943-2490-83584FDA90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57C54C6-B86B-2692-0DE9-E5AAF4545B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040A789-7097-3C7B-1305-B006DF8921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20D47B-6133-DEAA-12C0-4903E80DCCAB}"/>
              </a:ext>
            </a:extLst>
          </p:cNvPr>
          <p:cNvSpPr>
            <a:spLocks noGrp="1"/>
          </p:cNvSpPr>
          <p:nvPr>
            <p:ph type="dt" sz="half" idx="10"/>
          </p:nvPr>
        </p:nvSpPr>
        <p:spPr/>
        <p:txBody>
          <a:bodyPr/>
          <a:lstStyle/>
          <a:p>
            <a:fld id="{CB4401D6-7AC9-D241-94EF-682C5C26F9EF}" type="datetimeFigureOut">
              <a:rPr lang="en-US" smtClean="0"/>
              <a:t>9/9/26</a:t>
            </a:fld>
            <a:endParaRPr lang="en-US"/>
          </a:p>
        </p:txBody>
      </p:sp>
      <p:sp>
        <p:nvSpPr>
          <p:cNvPr id="6" name="Footer Placeholder 5">
            <a:extLst>
              <a:ext uri="{FF2B5EF4-FFF2-40B4-BE49-F238E27FC236}">
                <a16:creationId xmlns:a16="http://schemas.microsoft.com/office/drawing/2014/main" id="{72C1D9CD-61E5-1B60-B8F7-AD603D5AAB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FDA235-F8FD-F7FF-0427-8501DC9F7F7F}"/>
              </a:ext>
            </a:extLst>
          </p:cNvPr>
          <p:cNvSpPr>
            <a:spLocks noGrp="1"/>
          </p:cNvSpPr>
          <p:nvPr>
            <p:ph type="sldNum" sz="quarter" idx="12"/>
          </p:nvPr>
        </p:nvSpPr>
        <p:spPr/>
        <p:txBody>
          <a:bodyPr/>
          <a:lstStyle/>
          <a:p>
            <a:fld id="{F30B552D-EA1C-444C-B809-C1D37AD0CA4E}" type="slidenum">
              <a:rPr lang="en-US" smtClean="0"/>
              <a:t>‹#›</a:t>
            </a:fld>
            <a:endParaRPr lang="en-US"/>
          </a:p>
        </p:txBody>
      </p:sp>
    </p:spTree>
    <p:extLst>
      <p:ext uri="{BB962C8B-B14F-4D97-AF65-F5344CB8AC3E}">
        <p14:creationId xmlns:p14="http://schemas.microsoft.com/office/powerpoint/2010/main" val="1901051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EC77F-51C4-E3B8-05DE-A4D660B7A8C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518725-3BBE-5446-E64F-670E76C90C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25C709-9DA0-C623-6870-F2CCAEF896F9}"/>
              </a:ext>
            </a:extLst>
          </p:cNvPr>
          <p:cNvSpPr>
            <a:spLocks noGrp="1"/>
          </p:cNvSpPr>
          <p:nvPr>
            <p:ph type="dt" sz="half" idx="10"/>
          </p:nvPr>
        </p:nvSpPr>
        <p:spPr/>
        <p:txBody>
          <a:bodyPr/>
          <a:lstStyle/>
          <a:p>
            <a:fld id="{CB4401D6-7AC9-D241-94EF-682C5C26F9EF}" type="datetimeFigureOut">
              <a:rPr lang="en-US" smtClean="0"/>
              <a:t>9/9/26</a:t>
            </a:fld>
            <a:endParaRPr lang="en-US"/>
          </a:p>
        </p:txBody>
      </p:sp>
      <p:sp>
        <p:nvSpPr>
          <p:cNvPr id="5" name="Footer Placeholder 4">
            <a:extLst>
              <a:ext uri="{FF2B5EF4-FFF2-40B4-BE49-F238E27FC236}">
                <a16:creationId xmlns:a16="http://schemas.microsoft.com/office/drawing/2014/main" id="{C10C3AF7-4FB8-590B-E749-690A450FE8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3F770C-28C5-FA53-A922-34744DE160CE}"/>
              </a:ext>
            </a:extLst>
          </p:cNvPr>
          <p:cNvSpPr>
            <a:spLocks noGrp="1"/>
          </p:cNvSpPr>
          <p:nvPr>
            <p:ph type="sldNum" sz="quarter" idx="12"/>
          </p:nvPr>
        </p:nvSpPr>
        <p:spPr/>
        <p:txBody>
          <a:bodyPr/>
          <a:lstStyle/>
          <a:p>
            <a:fld id="{F30B552D-EA1C-444C-B809-C1D37AD0CA4E}" type="slidenum">
              <a:rPr lang="en-US" smtClean="0"/>
              <a:t>‹#›</a:t>
            </a:fld>
            <a:endParaRPr lang="en-US"/>
          </a:p>
        </p:txBody>
      </p:sp>
    </p:spTree>
    <p:extLst>
      <p:ext uri="{BB962C8B-B14F-4D97-AF65-F5344CB8AC3E}">
        <p14:creationId xmlns:p14="http://schemas.microsoft.com/office/powerpoint/2010/main" val="4274145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85D232-43D2-3ABE-C36C-5FA8F369D9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FC3F30A-C597-63FB-6CCC-C68E92A511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F07439-03C0-CEC5-AB06-14F0A2EFBD04}"/>
              </a:ext>
            </a:extLst>
          </p:cNvPr>
          <p:cNvSpPr>
            <a:spLocks noGrp="1"/>
          </p:cNvSpPr>
          <p:nvPr>
            <p:ph type="dt" sz="half" idx="10"/>
          </p:nvPr>
        </p:nvSpPr>
        <p:spPr/>
        <p:txBody>
          <a:bodyPr/>
          <a:lstStyle/>
          <a:p>
            <a:fld id="{CB4401D6-7AC9-D241-94EF-682C5C26F9EF}" type="datetimeFigureOut">
              <a:rPr lang="en-US" smtClean="0"/>
              <a:t>9/9/26</a:t>
            </a:fld>
            <a:endParaRPr lang="en-US"/>
          </a:p>
        </p:txBody>
      </p:sp>
      <p:sp>
        <p:nvSpPr>
          <p:cNvPr id="5" name="Footer Placeholder 4">
            <a:extLst>
              <a:ext uri="{FF2B5EF4-FFF2-40B4-BE49-F238E27FC236}">
                <a16:creationId xmlns:a16="http://schemas.microsoft.com/office/drawing/2014/main" id="{84EDEAF3-5DCF-4E44-D059-7977E0CD12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9C62F1-E313-64F3-90CE-89855AFADBA9}"/>
              </a:ext>
            </a:extLst>
          </p:cNvPr>
          <p:cNvSpPr>
            <a:spLocks noGrp="1"/>
          </p:cNvSpPr>
          <p:nvPr>
            <p:ph type="sldNum" sz="quarter" idx="12"/>
          </p:nvPr>
        </p:nvSpPr>
        <p:spPr/>
        <p:txBody>
          <a:bodyPr/>
          <a:lstStyle/>
          <a:p>
            <a:fld id="{F30B552D-EA1C-444C-B809-C1D37AD0CA4E}" type="slidenum">
              <a:rPr lang="en-US" smtClean="0"/>
              <a:t>‹#›</a:t>
            </a:fld>
            <a:endParaRPr lang="en-US"/>
          </a:p>
        </p:txBody>
      </p:sp>
    </p:spTree>
    <p:extLst>
      <p:ext uri="{BB962C8B-B14F-4D97-AF65-F5344CB8AC3E}">
        <p14:creationId xmlns:p14="http://schemas.microsoft.com/office/powerpoint/2010/main" val="3586786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88401C-C610-F1AA-5A7C-0A85BB03AC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20E62DA-767C-0AE1-4E28-F478CBC5BE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8B87F5-492B-B01A-C612-246F54C1BC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B4401D6-7AC9-D241-94EF-682C5C26F9EF}" type="datetimeFigureOut">
              <a:rPr lang="en-US" smtClean="0"/>
              <a:t>9/9/26</a:t>
            </a:fld>
            <a:endParaRPr lang="en-US"/>
          </a:p>
        </p:txBody>
      </p:sp>
      <p:sp>
        <p:nvSpPr>
          <p:cNvPr id="5" name="Footer Placeholder 4">
            <a:extLst>
              <a:ext uri="{FF2B5EF4-FFF2-40B4-BE49-F238E27FC236}">
                <a16:creationId xmlns:a16="http://schemas.microsoft.com/office/drawing/2014/main" id="{6FDCB154-27E1-8ED7-1D8A-464755C125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5704533-7B70-F1EF-2A9E-3777A1B99B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30B552D-EA1C-444C-B809-C1D37AD0CA4E}" type="slidenum">
              <a:rPr lang="en-US" smtClean="0"/>
              <a:t>‹#›</a:t>
            </a:fld>
            <a:endParaRPr lang="en-US"/>
          </a:p>
        </p:txBody>
      </p:sp>
    </p:spTree>
    <p:extLst>
      <p:ext uri="{BB962C8B-B14F-4D97-AF65-F5344CB8AC3E}">
        <p14:creationId xmlns:p14="http://schemas.microsoft.com/office/powerpoint/2010/main" val="37779371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en.wikipedia.org/wiki/IKEA" TargetMode="External"/><Relationship Id="rId2" Type="http://schemas.openxmlformats.org/officeDocument/2006/relationships/image" Target="../media/image1.org&amp;utm_campaign=parser&amp;utm_content=thumbnai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sv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AA6C0-9720-C011-9535-EC87FA21EE1F}"/>
              </a:ext>
            </a:extLst>
          </p:cNvPr>
          <p:cNvSpPr>
            <a:spLocks noGrp="1"/>
          </p:cNvSpPr>
          <p:nvPr>
            <p:ph type="ctrTitle"/>
          </p:nvPr>
        </p:nvSpPr>
        <p:spPr/>
        <p:txBody>
          <a:bodyPr/>
          <a:lstStyle/>
          <a:p>
            <a:r>
              <a:rPr lang="en-US" dirty="0"/>
              <a:t>IKEA PoC </a:t>
            </a:r>
          </a:p>
        </p:txBody>
      </p:sp>
    </p:spTree>
    <p:extLst>
      <p:ext uri="{BB962C8B-B14F-4D97-AF65-F5344CB8AC3E}">
        <p14:creationId xmlns:p14="http://schemas.microsoft.com/office/powerpoint/2010/main" val="30578846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21D83-BF93-BC3A-64BC-E28F799125C2}"/>
              </a:ext>
            </a:extLst>
          </p:cNvPr>
          <p:cNvSpPr>
            <a:spLocks noGrp="1"/>
          </p:cNvSpPr>
          <p:nvPr>
            <p:ph type="title"/>
          </p:nvPr>
        </p:nvSpPr>
        <p:spPr/>
        <p:txBody>
          <a:bodyPr/>
          <a:lstStyle/>
          <a:p>
            <a:r>
              <a:rPr lang="en-US" dirty="0"/>
              <a:t>Logo to be used</a:t>
            </a:r>
          </a:p>
        </p:txBody>
      </p:sp>
      <p:pic>
        <p:nvPicPr>
          <p:cNvPr id="4" name="Picture 3">
            <a:extLst>
              <a:ext uri="{FF2B5EF4-FFF2-40B4-BE49-F238E27FC236}">
                <a16:creationId xmlns:a16="http://schemas.microsoft.com/office/drawing/2014/main" id="{83D0182E-219F-0449-EC75-D022DEC61EA3}"/>
              </a:ext>
            </a:extLst>
          </p:cNvPr>
          <p:cNvPicPr>
            <a:picLocks noChangeAspect="1"/>
          </p:cNvPicPr>
          <p:nvPr/>
        </p:nvPicPr>
        <p:blipFill>
          <a:blip r:embed="rId2"/>
          <a:stretch>
            <a:fillRect/>
          </a:stretch>
        </p:blipFill>
        <p:spPr>
          <a:xfrm>
            <a:off x="1115462" y="3429000"/>
            <a:ext cx="1587500" cy="635000"/>
          </a:xfrm>
          <a:prstGeom prst="rect">
            <a:avLst/>
          </a:prstGeom>
          <a:ln>
            <a:solidFill>
              <a:schemeClr val="accent1"/>
            </a:solidFill>
          </a:ln>
        </p:spPr>
      </p:pic>
      <p:sp>
        <p:nvSpPr>
          <p:cNvPr id="5" name="TextBox 4">
            <a:extLst>
              <a:ext uri="{FF2B5EF4-FFF2-40B4-BE49-F238E27FC236}">
                <a16:creationId xmlns:a16="http://schemas.microsoft.com/office/drawing/2014/main" id="{FAACB2F2-D111-72BA-B519-5B59AF4031AF}"/>
              </a:ext>
            </a:extLst>
          </p:cNvPr>
          <p:cNvSpPr txBox="1"/>
          <p:nvPr/>
        </p:nvSpPr>
        <p:spPr>
          <a:xfrm>
            <a:off x="982133" y="1930400"/>
            <a:ext cx="10611556" cy="646331"/>
          </a:xfrm>
          <a:prstGeom prst="rect">
            <a:avLst/>
          </a:prstGeom>
          <a:noFill/>
        </p:spPr>
        <p:txBody>
          <a:bodyPr wrap="square" rtlCol="0">
            <a:spAutoFit/>
          </a:bodyPr>
          <a:lstStyle/>
          <a:p>
            <a:r>
              <a:rPr lang="en-US" dirty="0"/>
              <a:t>Use the following logo – across all use cases &amp; clickable prototype. Download from </a:t>
            </a:r>
            <a:r>
              <a:rPr lang="en-US" dirty="0">
                <a:hlinkClick r:id="rId3"/>
              </a:rPr>
              <a:t>https://</a:t>
            </a:r>
            <a:r>
              <a:rPr lang="en-US" dirty="0" err="1">
                <a:hlinkClick r:id="rId3"/>
              </a:rPr>
              <a:t>en.wikipedia.org</a:t>
            </a:r>
            <a:r>
              <a:rPr lang="en-US" dirty="0">
                <a:hlinkClick r:id="rId3"/>
              </a:rPr>
              <a:t>/wiki/IKEA </a:t>
            </a:r>
            <a:endParaRPr lang="en-US" dirty="0"/>
          </a:p>
        </p:txBody>
      </p:sp>
    </p:spTree>
    <p:extLst>
      <p:ext uri="{BB962C8B-B14F-4D97-AF65-F5344CB8AC3E}">
        <p14:creationId xmlns:p14="http://schemas.microsoft.com/office/powerpoint/2010/main" val="3052197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B944F-7262-C67F-1869-EFEA13C4DD95}"/>
              </a:ext>
            </a:extLst>
          </p:cNvPr>
          <p:cNvSpPr>
            <a:spLocks noGrp="1"/>
          </p:cNvSpPr>
          <p:nvPr>
            <p:ph type="title"/>
          </p:nvPr>
        </p:nvSpPr>
        <p:spPr/>
        <p:txBody>
          <a:bodyPr/>
          <a:lstStyle/>
          <a:p>
            <a:r>
              <a:rPr lang="en-US" dirty="0" err="1"/>
              <a:t>Colour</a:t>
            </a:r>
            <a:r>
              <a:rPr lang="en-US" dirty="0"/>
              <a:t> themes to be used</a:t>
            </a:r>
          </a:p>
        </p:txBody>
      </p:sp>
      <p:sp>
        <p:nvSpPr>
          <p:cNvPr id="3" name="Content Placeholder 2">
            <a:extLst>
              <a:ext uri="{FF2B5EF4-FFF2-40B4-BE49-F238E27FC236}">
                <a16:creationId xmlns:a16="http://schemas.microsoft.com/office/drawing/2014/main" id="{5FB9734C-64D1-D01F-00E9-5B4AFDCDC92F}"/>
              </a:ext>
            </a:extLst>
          </p:cNvPr>
          <p:cNvSpPr>
            <a:spLocks noGrp="1"/>
          </p:cNvSpPr>
          <p:nvPr>
            <p:ph idx="1"/>
          </p:nvPr>
        </p:nvSpPr>
        <p:spPr>
          <a:xfrm>
            <a:off x="838200" y="1825625"/>
            <a:ext cx="10515600" cy="1603375"/>
          </a:xfrm>
        </p:spPr>
        <p:txBody>
          <a:bodyPr/>
          <a:lstStyle/>
          <a:p>
            <a:r>
              <a:rPr lang="en-US" dirty="0"/>
              <a:t>Use the IEKA blue where needed &amp; teams framework allows</a:t>
            </a:r>
          </a:p>
          <a:p>
            <a:r>
              <a:rPr lang="en-US" dirty="0"/>
              <a:t> Use the picker on the logo or the values shown below for exact match</a:t>
            </a:r>
          </a:p>
        </p:txBody>
      </p:sp>
      <p:pic>
        <p:nvPicPr>
          <p:cNvPr id="5" name="Picture 4">
            <a:extLst>
              <a:ext uri="{FF2B5EF4-FFF2-40B4-BE49-F238E27FC236}">
                <a16:creationId xmlns:a16="http://schemas.microsoft.com/office/drawing/2014/main" id="{172BE638-20C3-87C5-4915-FA38CA1DA977}"/>
              </a:ext>
            </a:extLst>
          </p:cNvPr>
          <p:cNvPicPr>
            <a:picLocks noChangeAspect="1"/>
          </p:cNvPicPr>
          <p:nvPr/>
        </p:nvPicPr>
        <p:blipFill>
          <a:blip r:embed="rId2"/>
          <a:stretch>
            <a:fillRect/>
          </a:stretch>
        </p:blipFill>
        <p:spPr>
          <a:xfrm>
            <a:off x="6433388" y="3304418"/>
            <a:ext cx="1612045" cy="2918581"/>
          </a:xfrm>
          <a:prstGeom prst="rect">
            <a:avLst/>
          </a:prstGeom>
        </p:spPr>
      </p:pic>
      <p:pic>
        <p:nvPicPr>
          <p:cNvPr id="7" name="Picture 6">
            <a:extLst>
              <a:ext uri="{FF2B5EF4-FFF2-40B4-BE49-F238E27FC236}">
                <a16:creationId xmlns:a16="http://schemas.microsoft.com/office/drawing/2014/main" id="{A01BF9E2-E155-28D5-461C-5B90EAF86863}"/>
              </a:ext>
            </a:extLst>
          </p:cNvPr>
          <p:cNvPicPr>
            <a:picLocks noChangeAspect="1"/>
          </p:cNvPicPr>
          <p:nvPr/>
        </p:nvPicPr>
        <p:blipFill>
          <a:blip r:embed="rId3"/>
          <a:stretch>
            <a:fillRect/>
          </a:stretch>
        </p:blipFill>
        <p:spPr>
          <a:xfrm>
            <a:off x="4687912" y="3322711"/>
            <a:ext cx="1562100" cy="2851150"/>
          </a:xfrm>
          <a:prstGeom prst="rect">
            <a:avLst/>
          </a:prstGeom>
        </p:spPr>
      </p:pic>
      <p:pic>
        <p:nvPicPr>
          <p:cNvPr id="9" name="Picture 8">
            <a:extLst>
              <a:ext uri="{FF2B5EF4-FFF2-40B4-BE49-F238E27FC236}">
                <a16:creationId xmlns:a16="http://schemas.microsoft.com/office/drawing/2014/main" id="{CBC79571-FFAB-FCF9-E8A3-DA937DC65506}"/>
              </a:ext>
            </a:extLst>
          </p:cNvPr>
          <p:cNvPicPr>
            <a:picLocks noChangeAspect="1"/>
          </p:cNvPicPr>
          <p:nvPr/>
        </p:nvPicPr>
        <p:blipFill>
          <a:blip r:embed="rId4"/>
          <a:stretch>
            <a:fillRect/>
          </a:stretch>
        </p:blipFill>
        <p:spPr>
          <a:xfrm>
            <a:off x="2850054" y="3322711"/>
            <a:ext cx="1654482" cy="2900288"/>
          </a:xfrm>
          <a:prstGeom prst="rect">
            <a:avLst/>
          </a:prstGeom>
        </p:spPr>
      </p:pic>
      <p:pic>
        <p:nvPicPr>
          <p:cNvPr id="11" name="Picture 10">
            <a:extLst>
              <a:ext uri="{FF2B5EF4-FFF2-40B4-BE49-F238E27FC236}">
                <a16:creationId xmlns:a16="http://schemas.microsoft.com/office/drawing/2014/main" id="{86CF6632-8DD2-7FFD-E774-94AD81193FD7}"/>
              </a:ext>
            </a:extLst>
          </p:cNvPr>
          <p:cNvPicPr>
            <a:picLocks noChangeAspect="1"/>
          </p:cNvPicPr>
          <p:nvPr/>
        </p:nvPicPr>
        <p:blipFill>
          <a:blip r:embed="rId5"/>
          <a:stretch>
            <a:fillRect/>
          </a:stretch>
        </p:blipFill>
        <p:spPr>
          <a:xfrm>
            <a:off x="1027604" y="3322711"/>
            <a:ext cx="1633046" cy="2900289"/>
          </a:xfrm>
          <a:prstGeom prst="rect">
            <a:avLst/>
          </a:prstGeom>
        </p:spPr>
      </p:pic>
    </p:spTree>
    <p:extLst>
      <p:ext uri="{BB962C8B-B14F-4D97-AF65-F5344CB8AC3E}">
        <p14:creationId xmlns:p14="http://schemas.microsoft.com/office/powerpoint/2010/main" val="3852258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19C7B-AB02-1297-290D-ED261BDC7213}"/>
              </a:ext>
            </a:extLst>
          </p:cNvPr>
          <p:cNvSpPr>
            <a:spLocks noGrp="1"/>
          </p:cNvSpPr>
          <p:nvPr>
            <p:ph type="title"/>
          </p:nvPr>
        </p:nvSpPr>
        <p:spPr/>
        <p:txBody>
          <a:bodyPr/>
          <a:lstStyle/>
          <a:p>
            <a:r>
              <a:rPr lang="en-US" dirty="0" err="1"/>
              <a:t>AskP&amp;C</a:t>
            </a:r>
            <a:r>
              <a:rPr lang="en-US" dirty="0"/>
              <a:t> icon/brand</a:t>
            </a:r>
          </a:p>
        </p:txBody>
      </p:sp>
      <p:sp>
        <p:nvSpPr>
          <p:cNvPr id="3" name="Content Placeholder 2">
            <a:extLst>
              <a:ext uri="{FF2B5EF4-FFF2-40B4-BE49-F238E27FC236}">
                <a16:creationId xmlns:a16="http://schemas.microsoft.com/office/drawing/2014/main" id="{6DCC5174-3310-5D1F-050F-C38862E54B38}"/>
              </a:ext>
            </a:extLst>
          </p:cNvPr>
          <p:cNvSpPr>
            <a:spLocks noGrp="1"/>
          </p:cNvSpPr>
          <p:nvPr>
            <p:ph idx="1"/>
          </p:nvPr>
        </p:nvSpPr>
        <p:spPr/>
        <p:txBody>
          <a:bodyPr/>
          <a:lstStyle/>
          <a:p>
            <a:r>
              <a:rPr lang="en-US" dirty="0"/>
              <a:t>Use this icon to represent </a:t>
            </a:r>
            <a:r>
              <a:rPr lang="en-US" dirty="0" err="1"/>
              <a:t>AskP&amp;C</a:t>
            </a:r>
            <a:r>
              <a:rPr lang="en-US" dirty="0"/>
              <a:t> visually</a:t>
            </a:r>
          </a:p>
        </p:txBody>
      </p:sp>
      <p:grpSp>
        <p:nvGrpSpPr>
          <p:cNvPr id="15" name="Group 14">
            <a:extLst>
              <a:ext uri="{FF2B5EF4-FFF2-40B4-BE49-F238E27FC236}">
                <a16:creationId xmlns:a16="http://schemas.microsoft.com/office/drawing/2014/main" id="{15C8DE88-AEF7-1BDF-FD07-B2ADBD3F62C2}"/>
              </a:ext>
            </a:extLst>
          </p:cNvPr>
          <p:cNvGrpSpPr/>
          <p:nvPr/>
        </p:nvGrpSpPr>
        <p:grpSpPr>
          <a:xfrm>
            <a:off x="8040511" y="4772963"/>
            <a:ext cx="1404000" cy="1404000"/>
            <a:chOff x="872066" y="2328332"/>
            <a:chExt cx="1404000" cy="1404000"/>
          </a:xfrm>
        </p:grpSpPr>
        <p:sp>
          <p:nvSpPr>
            <p:cNvPr id="13" name="Oval 12">
              <a:extLst>
                <a:ext uri="{FF2B5EF4-FFF2-40B4-BE49-F238E27FC236}">
                  <a16:creationId xmlns:a16="http://schemas.microsoft.com/office/drawing/2014/main" id="{D66119A7-7C90-41F1-812E-96C62E58F0E2}"/>
                </a:ext>
              </a:extLst>
            </p:cNvPr>
            <p:cNvSpPr/>
            <p:nvPr/>
          </p:nvSpPr>
          <p:spPr>
            <a:xfrm>
              <a:off x="872066" y="2328332"/>
              <a:ext cx="1404000" cy="1404000"/>
            </a:xfrm>
            <a:prstGeom prst="ellipse">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E9881BE1-49AD-9778-1B90-07D00397FA0A}"/>
                </a:ext>
              </a:extLst>
            </p:cNvPr>
            <p:cNvGrpSpPr/>
            <p:nvPr/>
          </p:nvGrpSpPr>
          <p:grpSpPr>
            <a:xfrm>
              <a:off x="987778" y="2602088"/>
              <a:ext cx="1134533" cy="945445"/>
              <a:chOff x="976489" y="2579510"/>
              <a:chExt cx="1134533" cy="945445"/>
            </a:xfrm>
          </p:grpSpPr>
          <p:pic>
            <p:nvPicPr>
              <p:cNvPr id="5" name="Graphic 4" descr="Speech outline">
                <a:extLst>
                  <a:ext uri="{FF2B5EF4-FFF2-40B4-BE49-F238E27FC236}">
                    <a16:creationId xmlns:a16="http://schemas.microsoft.com/office/drawing/2014/main" id="{A8832A15-8806-BE72-1630-803C8BE6D9C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76489" y="2610555"/>
                <a:ext cx="914400" cy="914400"/>
              </a:xfrm>
              <a:prstGeom prst="rect">
                <a:avLst/>
              </a:prstGeom>
            </p:spPr>
          </p:pic>
          <p:sp>
            <p:nvSpPr>
              <p:cNvPr id="6" name="TextBox 5">
                <a:extLst>
                  <a:ext uri="{FF2B5EF4-FFF2-40B4-BE49-F238E27FC236}">
                    <a16:creationId xmlns:a16="http://schemas.microsoft.com/office/drawing/2014/main" id="{28F34E0D-AB58-F87F-B31E-97C9161E5DEE}"/>
                  </a:ext>
                </a:extLst>
              </p:cNvPr>
              <p:cNvSpPr txBox="1"/>
              <p:nvPr/>
            </p:nvSpPr>
            <p:spPr>
              <a:xfrm>
                <a:off x="1433689" y="2579510"/>
                <a:ext cx="677333" cy="369332"/>
              </a:xfrm>
              <a:prstGeom prst="rect">
                <a:avLst/>
              </a:prstGeom>
              <a:solidFill>
                <a:schemeClr val="bg1"/>
              </a:solidFill>
              <a:ln>
                <a:noFill/>
              </a:ln>
            </p:spPr>
            <p:txBody>
              <a:bodyPr wrap="square" rtlCol="0">
                <a:spAutoFit/>
              </a:bodyPr>
              <a:lstStyle/>
              <a:p>
                <a:r>
                  <a:rPr lang="en-US" dirty="0">
                    <a:latin typeface="Arial" panose="020B0604020202020204" pitchFamily="34" charset="0"/>
                    <a:cs typeface="Arial" panose="020B0604020202020204" pitchFamily="34" charset="0"/>
                  </a:rPr>
                  <a:t>P&amp;C</a:t>
                </a:r>
              </a:p>
            </p:txBody>
          </p:sp>
        </p:grpSp>
      </p:grpSp>
      <p:pic>
        <p:nvPicPr>
          <p:cNvPr id="21" name="Picture 20">
            <a:extLst>
              <a:ext uri="{FF2B5EF4-FFF2-40B4-BE49-F238E27FC236}">
                <a16:creationId xmlns:a16="http://schemas.microsoft.com/office/drawing/2014/main" id="{9B1E7E8C-E3B0-2616-D7D8-B784678569FB}"/>
              </a:ext>
            </a:extLst>
          </p:cNvPr>
          <p:cNvPicPr>
            <a:picLocks noChangeAspect="1"/>
          </p:cNvPicPr>
          <p:nvPr/>
        </p:nvPicPr>
        <p:blipFill>
          <a:blip r:embed="rId3"/>
          <a:stretch>
            <a:fillRect/>
          </a:stretch>
        </p:blipFill>
        <p:spPr>
          <a:xfrm>
            <a:off x="1576916" y="2784934"/>
            <a:ext cx="649817" cy="644066"/>
          </a:xfrm>
          <a:prstGeom prst="rect">
            <a:avLst/>
          </a:prstGeom>
        </p:spPr>
      </p:pic>
      <p:sp>
        <p:nvSpPr>
          <p:cNvPr id="22" name="TextBox 21">
            <a:extLst>
              <a:ext uri="{FF2B5EF4-FFF2-40B4-BE49-F238E27FC236}">
                <a16:creationId xmlns:a16="http://schemas.microsoft.com/office/drawing/2014/main" id="{36411028-0F0E-A661-47FA-52D1EC151CBC}"/>
              </a:ext>
            </a:extLst>
          </p:cNvPr>
          <p:cNvSpPr txBox="1"/>
          <p:nvPr/>
        </p:nvSpPr>
        <p:spPr>
          <a:xfrm>
            <a:off x="2291644" y="2878667"/>
            <a:ext cx="2957689" cy="369332"/>
          </a:xfrm>
          <a:prstGeom prst="rect">
            <a:avLst/>
          </a:prstGeom>
          <a:noFill/>
        </p:spPr>
        <p:txBody>
          <a:bodyPr wrap="square" rtlCol="0">
            <a:spAutoFit/>
          </a:bodyPr>
          <a:lstStyle/>
          <a:p>
            <a:r>
              <a:rPr lang="en-US" dirty="0"/>
              <a:t>Use this image</a:t>
            </a:r>
          </a:p>
        </p:txBody>
      </p:sp>
    </p:spTree>
    <p:extLst>
      <p:ext uri="{BB962C8B-B14F-4D97-AF65-F5344CB8AC3E}">
        <p14:creationId xmlns:p14="http://schemas.microsoft.com/office/powerpoint/2010/main" val="2369064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949F9-CC9E-221F-8D5C-C26D86820576}"/>
              </a:ext>
            </a:extLst>
          </p:cNvPr>
          <p:cNvSpPr>
            <a:spLocks noGrp="1"/>
          </p:cNvSpPr>
          <p:nvPr>
            <p:ph type="title"/>
          </p:nvPr>
        </p:nvSpPr>
        <p:spPr/>
        <p:txBody>
          <a:bodyPr/>
          <a:lstStyle/>
          <a:p>
            <a:r>
              <a:rPr lang="en-US" dirty="0"/>
              <a:t>Before login (use only if there is a login page)</a:t>
            </a:r>
          </a:p>
        </p:txBody>
      </p:sp>
      <p:sp>
        <p:nvSpPr>
          <p:cNvPr id="3" name="Content Placeholder 2">
            <a:extLst>
              <a:ext uri="{FF2B5EF4-FFF2-40B4-BE49-F238E27FC236}">
                <a16:creationId xmlns:a16="http://schemas.microsoft.com/office/drawing/2014/main" id="{F9EB7D95-D51F-4BB6-D44F-EE163A219FC2}"/>
              </a:ext>
            </a:extLst>
          </p:cNvPr>
          <p:cNvSpPr>
            <a:spLocks noGrp="1"/>
          </p:cNvSpPr>
          <p:nvPr>
            <p:ph idx="1"/>
          </p:nvPr>
        </p:nvSpPr>
        <p:spPr/>
        <p:txBody>
          <a:bodyPr/>
          <a:lstStyle/>
          <a:p>
            <a:r>
              <a:rPr lang="en-US" dirty="0"/>
              <a:t>Top center – IKEA logo</a:t>
            </a:r>
          </a:p>
          <a:p>
            <a:r>
              <a:rPr lang="en-US" dirty="0"/>
              <a:t>Top right – language selection dropdown (???)</a:t>
            </a:r>
          </a:p>
          <a:p>
            <a:r>
              <a:rPr lang="en-US" dirty="0"/>
              <a:t>Page center - display message – “Hej!”</a:t>
            </a:r>
          </a:p>
          <a:p>
            <a:r>
              <a:rPr lang="en-US" dirty="0"/>
              <a:t>Below the greetings, provision for entering User Name and Password</a:t>
            </a:r>
          </a:p>
          <a:p>
            <a:r>
              <a:rPr lang="en-US" dirty="0"/>
              <a:t>”LOGIN”  button – white text with IKEA blue background</a:t>
            </a:r>
          </a:p>
          <a:p>
            <a:endParaRPr lang="en-US" dirty="0"/>
          </a:p>
          <a:p>
            <a:endParaRPr lang="en-US" dirty="0"/>
          </a:p>
          <a:p>
            <a:endParaRPr lang="en-US" dirty="0"/>
          </a:p>
        </p:txBody>
      </p:sp>
      <p:sp>
        <p:nvSpPr>
          <p:cNvPr id="4" name="TextBox 3">
            <a:extLst>
              <a:ext uri="{FF2B5EF4-FFF2-40B4-BE49-F238E27FC236}">
                <a16:creationId xmlns:a16="http://schemas.microsoft.com/office/drawing/2014/main" id="{FF8B9D27-3F58-1DEC-418C-90118B673D9D}"/>
              </a:ext>
            </a:extLst>
          </p:cNvPr>
          <p:cNvSpPr txBox="1"/>
          <p:nvPr/>
        </p:nvSpPr>
        <p:spPr>
          <a:xfrm>
            <a:off x="6920089" y="0"/>
            <a:ext cx="4433711" cy="646331"/>
          </a:xfrm>
          <a:prstGeom prst="rect">
            <a:avLst/>
          </a:prstGeom>
          <a:noFill/>
        </p:spPr>
        <p:txBody>
          <a:bodyPr wrap="square" rtlCol="0">
            <a:spAutoFit/>
          </a:bodyPr>
          <a:lstStyle/>
          <a:p>
            <a:r>
              <a:rPr lang="en-US" b="1" dirty="0">
                <a:solidFill>
                  <a:srgbClr val="FF0000"/>
                </a:solidFill>
              </a:rPr>
              <a:t>I’m not sure the limitations /possibilities in Teams. We can discuss this.</a:t>
            </a:r>
          </a:p>
        </p:txBody>
      </p:sp>
    </p:spTree>
    <p:extLst>
      <p:ext uri="{BB962C8B-B14F-4D97-AF65-F5344CB8AC3E}">
        <p14:creationId xmlns:p14="http://schemas.microsoft.com/office/powerpoint/2010/main" val="277023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714EA-CD70-B471-3408-BE9F85BEE9C7}"/>
              </a:ext>
            </a:extLst>
          </p:cNvPr>
          <p:cNvSpPr>
            <a:spLocks noGrp="1"/>
          </p:cNvSpPr>
          <p:nvPr>
            <p:ph type="title"/>
          </p:nvPr>
        </p:nvSpPr>
        <p:spPr>
          <a:xfrm>
            <a:off x="338668" y="-211651"/>
            <a:ext cx="10515600" cy="1325563"/>
          </a:xfrm>
        </p:spPr>
        <p:txBody>
          <a:bodyPr>
            <a:normAutofit/>
          </a:bodyPr>
          <a:lstStyle/>
          <a:p>
            <a:r>
              <a:rPr lang="en-US" sz="3600" dirty="0"/>
              <a:t>Post login, greetings &amp; messages (MS Teams interface)</a:t>
            </a:r>
          </a:p>
        </p:txBody>
      </p:sp>
      <p:sp>
        <p:nvSpPr>
          <p:cNvPr id="4" name="TextBox 3">
            <a:extLst>
              <a:ext uri="{FF2B5EF4-FFF2-40B4-BE49-F238E27FC236}">
                <a16:creationId xmlns:a16="http://schemas.microsoft.com/office/drawing/2014/main" id="{96F9EA21-D01C-83D1-8E5A-A92EB2946358}"/>
              </a:ext>
            </a:extLst>
          </p:cNvPr>
          <p:cNvSpPr txBox="1"/>
          <p:nvPr/>
        </p:nvSpPr>
        <p:spPr>
          <a:xfrm>
            <a:off x="338668" y="860693"/>
            <a:ext cx="11322754" cy="5078313"/>
          </a:xfrm>
          <a:prstGeom prst="rect">
            <a:avLst/>
          </a:prstGeom>
          <a:noFill/>
        </p:spPr>
        <p:txBody>
          <a:bodyPr wrap="square" rtlCol="0">
            <a:spAutoFit/>
          </a:bodyPr>
          <a:lstStyle/>
          <a:p>
            <a:pPr marL="342900" indent="-342900">
              <a:buAutoNum type="arabicPeriod"/>
            </a:pPr>
            <a:r>
              <a:rPr lang="en-US" dirty="0"/>
              <a:t>Top bar – left corner – show the IKEA logo with “</a:t>
            </a:r>
            <a:r>
              <a:rPr lang="en-US" dirty="0" err="1"/>
              <a:t>AskP&amp;C</a:t>
            </a:r>
            <a:r>
              <a:rPr lang="en-US" dirty="0"/>
              <a:t>”  next to it</a:t>
            </a:r>
          </a:p>
          <a:p>
            <a:pPr marL="342900" indent="-342900">
              <a:buAutoNum type="arabicPeriod"/>
            </a:pPr>
            <a:r>
              <a:rPr lang="en-US" dirty="0"/>
              <a:t>Chat window – </a:t>
            </a:r>
          </a:p>
          <a:p>
            <a:pPr marL="800100" lvl="1" indent="-342900">
              <a:buAutoNum type="arabicPeriod"/>
            </a:pPr>
            <a:r>
              <a:rPr lang="en-US" dirty="0"/>
              <a:t>Display – “</a:t>
            </a:r>
            <a:r>
              <a:rPr lang="en-US" dirty="0" err="1"/>
              <a:t>AskP&amp;C</a:t>
            </a:r>
            <a:r>
              <a:rPr lang="en-US" dirty="0"/>
              <a:t>” followed by time (</a:t>
            </a:r>
            <a:r>
              <a:rPr lang="en-US" dirty="0" err="1"/>
              <a:t>hh:mm</a:t>
            </a:r>
            <a:r>
              <a:rPr lang="en-US" dirty="0"/>
              <a:t> format)</a:t>
            </a:r>
          </a:p>
          <a:p>
            <a:pPr marL="800100" lvl="1" indent="-342900">
              <a:buAutoNum type="arabicPeriod"/>
            </a:pPr>
            <a:r>
              <a:rPr lang="en-US" dirty="0"/>
              <a:t>Default message– </a:t>
            </a:r>
          </a:p>
          <a:p>
            <a:pPr marL="1257300" lvl="2" indent="-342900">
              <a:buAutoNum type="arabicPeriod"/>
            </a:pPr>
            <a:r>
              <a:rPr lang="en-US" dirty="0"/>
              <a:t>display </a:t>
            </a:r>
            <a:r>
              <a:rPr lang="en-US" dirty="0" err="1"/>
              <a:t>AskP&amp;C</a:t>
            </a:r>
            <a:r>
              <a:rPr lang="en-US" dirty="0"/>
              <a:t> Icon (instead of the IKEA logo that is used currently)</a:t>
            </a:r>
          </a:p>
          <a:p>
            <a:pPr marL="1257300" lvl="2" indent="-342900">
              <a:buAutoNum type="arabicPeriod"/>
            </a:pPr>
            <a:r>
              <a:rPr lang="en-US" dirty="0"/>
              <a:t>Display message “Hej! &lt;&lt;&lt;name of the person&gt;&gt;&gt;, (next line) I’m </a:t>
            </a:r>
            <a:r>
              <a:rPr lang="en-US" dirty="0" err="1"/>
              <a:t>AskP&amp;C</a:t>
            </a:r>
            <a:r>
              <a:rPr lang="en-US" dirty="0"/>
              <a:t>”. Text </a:t>
            </a:r>
            <a:r>
              <a:rPr lang="en-US" dirty="0" err="1"/>
              <a:t>colour</a:t>
            </a:r>
            <a:r>
              <a:rPr lang="en-US" dirty="0"/>
              <a:t> black (0,0,0)</a:t>
            </a:r>
          </a:p>
          <a:p>
            <a:pPr marL="1257300" lvl="2" indent="-342900">
              <a:buAutoNum type="arabicPeriod"/>
            </a:pPr>
            <a:r>
              <a:rPr lang="en-US" dirty="0"/>
              <a:t>Below the display message add the disclaimer text “</a:t>
            </a:r>
            <a:r>
              <a:rPr lang="en-US" dirty="0" err="1">
                <a:solidFill>
                  <a:schemeClr val="bg1">
                    <a:lumMod val="50000"/>
                  </a:schemeClr>
                </a:solidFill>
              </a:rPr>
              <a:t>AskP&amp;C</a:t>
            </a:r>
            <a:r>
              <a:rPr lang="en-US" dirty="0">
                <a:solidFill>
                  <a:schemeClr val="bg1">
                    <a:lumMod val="50000"/>
                  </a:schemeClr>
                </a:solidFill>
              </a:rPr>
              <a:t> uses Generative AI and may provide inaccurate output.  Review outputs carefully</a:t>
            </a:r>
            <a:r>
              <a:rPr lang="en-US" dirty="0"/>
              <a:t>”. Use the RGB  (127,127,127) for the disclaimer text</a:t>
            </a:r>
          </a:p>
          <a:p>
            <a:pPr marL="1257300" lvl="2" indent="-342900">
              <a:buAutoNum type="arabicPeriod"/>
            </a:pPr>
            <a:r>
              <a:rPr lang="en-US" dirty="0"/>
              <a:t>In the box where user is expected to type show default text “</a:t>
            </a:r>
            <a:r>
              <a:rPr lang="en-US" dirty="0">
                <a:solidFill>
                  <a:schemeClr val="bg1">
                    <a:lumMod val="50000"/>
                  </a:schemeClr>
                </a:solidFill>
              </a:rPr>
              <a:t>Type something… </a:t>
            </a:r>
            <a:r>
              <a:rPr lang="en-US" dirty="0"/>
              <a:t>” (127,127,127). Below the user interaction box – show four top use cases </a:t>
            </a:r>
          </a:p>
          <a:p>
            <a:pPr marL="1714500" lvl="3" indent="-342900">
              <a:buAutoNum type="arabicPeriod"/>
            </a:pPr>
            <a:r>
              <a:rPr lang="en-US" dirty="0"/>
              <a:t>Update My Personal Information</a:t>
            </a:r>
          </a:p>
          <a:p>
            <a:pPr marL="1714500" lvl="3" indent="-342900">
              <a:buFontTx/>
              <a:buAutoNum type="arabicPeriod"/>
            </a:pPr>
            <a:r>
              <a:rPr lang="en-US" dirty="0"/>
              <a:t>View My </a:t>
            </a:r>
            <a:r>
              <a:rPr lang="en-US" dirty="0" err="1"/>
              <a:t>Payslip</a:t>
            </a:r>
            <a:endParaRPr lang="en-US" dirty="0"/>
          </a:p>
          <a:p>
            <a:pPr marL="1714500" lvl="3" indent="-342900">
              <a:buAutoNum type="arabicPeriod"/>
            </a:pPr>
            <a:r>
              <a:rPr lang="en-US" dirty="0"/>
              <a:t>View My Shift Schedule</a:t>
            </a:r>
          </a:p>
          <a:p>
            <a:pPr marL="1714500" lvl="3" indent="-342900">
              <a:buFontTx/>
              <a:buAutoNum type="arabicPeriod"/>
            </a:pPr>
            <a:r>
              <a:rPr lang="en-US" dirty="0"/>
              <a:t>Request Time Off</a:t>
            </a:r>
          </a:p>
          <a:p>
            <a:pPr marL="1257300" lvl="2" indent="-342900">
              <a:buFontTx/>
              <a:buAutoNum type="arabicPeriod"/>
            </a:pPr>
            <a:r>
              <a:rPr lang="en-US" dirty="0"/>
              <a:t>User should be able to either enter their query in the </a:t>
            </a:r>
            <a:r>
              <a:rPr lang="en-US" dirty="0" err="1"/>
              <a:t>chatbox</a:t>
            </a:r>
            <a:r>
              <a:rPr lang="en-US" dirty="0"/>
              <a:t> OR select one of the default use cases listed</a:t>
            </a:r>
          </a:p>
          <a:p>
            <a:pPr lvl="3"/>
            <a:endParaRPr lang="en-US" dirty="0"/>
          </a:p>
          <a:p>
            <a:r>
              <a:rPr lang="en-US" dirty="0"/>
              <a:t>	</a:t>
            </a:r>
          </a:p>
        </p:txBody>
      </p:sp>
    </p:spTree>
    <p:extLst>
      <p:ext uri="{BB962C8B-B14F-4D97-AF65-F5344CB8AC3E}">
        <p14:creationId xmlns:p14="http://schemas.microsoft.com/office/powerpoint/2010/main" val="3236486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59497-E79C-6101-95D9-996E1F5490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628B4C-B56F-A405-6F39-2125454ADF13}"/>
              </a:ext>
            </a:extLst>
          </p:cNvPr>
          <p:cNvSpPr>
            <a:spLocks noGrp="1"/>
          </p:cNvSpPr>
          <p:nvPr>
            <p:ph type="title"/>
          </p:nvPr>
        </p:nvSpPr>
        <p:spPr>
          <a:xfrm>
            <a:off x="338668" y="-211651"/>
            <a:ext cx="10515600" cy="1325563"/>
          </a:xfrm>
        </p:spPr>
        <p:txBody>
          <a:bodyPr>
            <a:normAutofit/>
          </a:bodyPr>
          <a:lstStyle/>
          <a:p>
            <a:r>
              <a:rPr lang="en-US" sz="3600" dirty="0"/>
              <a:t>User interaction</a:t>
            </a:r>
          </a:p>
        </p:txBody>
      </p:sp>
      <p:sp>
        <p:nvSpPr>
          <p:cNvPr id="4" name="TextBox 3">
            <a:extLst>
              <a:ext uri="{FF2B5EF4-FFF2-40B4-BE49-F238E27FC236}">
                <a16:creationId xmlns:a16="http://schemas.microsoft.com/office/drawing/2014/main" id="{DE589A51-C98C-1F30-82B4-0E9884AFD7E3}"/>
              </a:ext>
            </a:extLst>
          </p:cNvPr>
          <p:cNvSpPr txBox="1"/>
          <p:nvPr/>
        </p:nvSpPr>
        <p:spPr>
          <a:xfrm>
            <a:off x="338668" y="860693"/>
            <a:ext cx="11322754" cy="6986528"/>
          </a:xfrm>
          <a:prstGeom prst="rect">
            <a:avLst/>
          </a:prstGeom>
          <a:noFill/>
        </p:spPr>
        <p:txBody>
          <a:bodyPr wrap="square" rtlCol="0">
            <a:spAutoFit/>
          </a:bodyPr>
          <a:lstStyle/>
          <a:p>
            <a:pPr marL="342900" indent="-342900">
              <a:buAutoNum type="arabicPeriod"/>
            </a:pPr>
            <a:r>
              <a:rPr lang="en-US" sz="1600" dirty="0"/>
              <a:t>User should be able to either type into the </a:t>
            </a:r>
            <a:r>
              <a:rPr lang="en-US" sz="1600" dirty="0" err="1"/>
              <a:t>chatbox</a:t>
            </a:r>
            <a:r>
              <a:rPr lang="en-US" sz="1600" dirty="0"/>
              <a:t> OR select from the default use cases listed</a:t>
            </a:r>
          </a:p>
          <a:p>
            <a:pPr marL="342900" indent="-342900">
              <a:buAutoNum type="arabicPeriod"/>
            </a:pPr>
            <a:r>
              <a:rPr lang="en-US" sz="1600" dirty="0"/>
              <a:t>If user selects no.1 or no. 2 default use cases, branch out to the relevant use case</a:t>
            </a:r>
          </a:p>
          <a:p>
            <a:pPr marL="342900" indent="-342900">
              <a:buAutoNum type="arabicPeriod"/>
            </a:pPr>
            <a:r>
              <a:rPr lang="en-US" sz="1600" dirty="0"/>
              <a:t>If user selects no. 4 from the default list display the following response</a:t>
            </a:r>
          </a:p>
          <a:p>
            <a:pPr marL="342900" indent="-342900">
              <a:buAutoNum type="arabicPeriod"/>
            </a:pPr>
            <a:endParaRPr lang="en-US" sz="1600" dirty="0"/>
          </a:p>
          <a:p>
            <a:pPr lvl="1"/>
            <a:r>
              <a:rPr lang="en-US" sz="1600" dirty="0"/>
              <a:t> - “Request Time Off feature is currently not enabled in </a:t>
            </a:r>
            <a:r>
              <a:rPr lang="en-US" sz="1600" dirty="0" err="1"/>
              <a:t>AskP&amp;C</a:t>
            </a:r>
            <a:r>
              <a:rPr lang="en-US" sz="1600" dirty="0"/>
              <a:t>. We are working making it available to you soon.”</a:t>
            </a:r>
          </a:p>
          <a:p>
            <a:pPr lvl="1"/>
            <a:r>
              <a:rPr lang="en-US" sz="1600" dirty="0"/>
              <a:t>- “ You may visit the HR portal to Request Time Off – Link to HR Portal” </a:t>
            </a:r>
          </a:p>
          <a:p>
            <a:pPr lvl="1"/>
            <a:r>
              <a:rPr lang="en-US" sz="1600" dirty="0"/>
              <a:t>- “ In the mean time, here is a prototype of Leave Of Absence feature. You may explore it further by following this </a:t>
            </a:r>
            <a:r>
              <a:rPr lang="en-US" sz="1600" u="sng" dirty="0"/>
              <a:t>link</a:t>
            </a:r>
            <a:r>
              <a:rPr lang="en-US" sz="1600" dirty="0"/>
              <a:t>” (hyperlink the prototype to Santosh’s page)</a:t>
            </a:r>
          </a:p>
          <a:p>
            <a:pPr lvl="1"/>
            <a:endParaRPr lang="en-US" sz="1600" dirty="0"/>
          </a:p>
          <a:p>
            <a:pPr marL="342900" indent="-342900">
              <a:buAutoNum type="arabicPeriod"/>
            </a:pPr>
            <a:r>
              <a:rPr lang="en-US" sz="1600" dirty="0"/>
              <a:t>If user selects no. 3 from the default list display the following response</a:t>
            </a:r>
          </a:p>
          <a:p>
            <a:pPr marL="800100" lvl="1" indent="-342900">
              <a:buAutoNum type="arabicPeriod"/>
            </a:pPr>
            <a:endParaRPr lang="en-US" sz="1600" dirty="0"/>
          </a:p>
          <a:p>
            <a:pPr lvl="1"/>
            <a:r>
              <a:rPr lang="en-US" sz="1600" dirty="0"/>
              <a:t>-“View My Shift Schedule is currently not enabled in </a:t>
            </a:r>
            <a:r>
              <a:rPr lang="en-US" sz="1600" dirty="0" err="1"/>
              <a:t>AskP&amp;C</a:t>
            </a:r>
            <a:r>
              <a:rPr lang="en-US" sz="1600" dirty="0"/>
              <a:t>. We are working making it available to you soon.”</a:t>
            </a:r>
          </a:p>
          <a:p>
            <a:pPr lvl="1"/>
            <a:r>
              <a:rPr lang="en-US" sz="1600" dirty="0"/>
              <a:t>-“You may reach out to your Store Manager for assistance with your Shift Schedule”</a:t>
            </a:r>
          </a:p>
          <a:p>
            <a:pPr lvl="1"/>
            <a:endParaRPr lang="en-US" sz="1600" dirty="0"/>
          </a:p>
          <a:p>
            <a:r>
              <a:rPr lang="en-US" sz="1600" dirty="0"/>
              <a:t>5. If user types a query related to Personal information update or View </a:t>
            </a:r>
            <a:r>
              <a:rPr lang="en-US" sz="1600" dirty="0" err="1"/>
              <a:t>payslip</a:t>
            </a:r>
            <a:r>
              <a:rPr lang="en-US" sz="1600" dirty="0"/>
              <a:t> or When will I be paid, branch out to the right use case</a:t>
            </a:r>
          </a:p>
          <a:p>
            <a:endParaRPr lang="en-US" sz="1600" dirty="0"/>
          </a:p>
          <a:p>
            <a:r>
              <a:rPr lang="en-US" sz="1600" dirty="0"/>
              <a:t>6. If user types a query related to Time Off OR Shift Schedule use the response listed above in #3 and #4</a:t>
            </a:r>
          </a:p>
          <a:p>
            <a:endParaRPr lang="en-US" sz="1600" dirty="0"/>
          </a:p>
          <a:p>
            <a:r>
              <a:rPr lang="en-US" sz="1600" dirty="0"/>
              <a:t>7. If user types a query related to Leave of Absence, display the following response</a:t>
            </a:r>
          </a:p>
          <a:p>
            <a:pPr lvl="1"/>
            <a:r>
              <a:rPr lang="en-US" sz="1600" dirty="0"/>
              <a:t> - “Leave Of Absence feature is currently not enabled in </a:t>
            </a:r>
            <a:r>
              <a:rPr lang="en-US" sz="1600" dirty="0" err="1"/>
              <a:t>AskP&amp;C</a:t>
            </a:r>
            <a:r>
              <a:rPr lang="en-US" sz="1600" dirty="0"/>
              <a:t>. We are working making it available to you soon.”</a:t>
            </a:r>
          </a:p>
          <a:p>
            <a:pPr lvl="1"/>
            <a:r>
              <a:rPr lang="en-US" sz="1600" dirty="0"/>
              <a:t>- “ You may visit the HR portal to request Leave Of Absence – Link to HR Portal” </a:t>
            </a:r>
          </a:p>
          <a:p>
            <a:pPr lvl="1"/>
            <a:r>
              <a:rPr lang="en-US" sz="1600" dirty="0"/>
              <a:t>- “ In the mean time, here is a prototype of Leave Of Absence feature. You may explore it further by following this </a:t>
            </a:r>
            <a:r>
              <a:rPr lang="en-US" sz="1600" u="sng" dirty="0"/>
              <a:t>link</a:t>
            </a:r>
            <a:r>
              <a:rPr lang="en-US" sz="1600" dirty="0"/>
              <a:t>” (hyperlink the prototype to Santosh’s page)</a:t>
            </a:r>
          </a:p>
          <a:p>
            <a:endParaRPr lang="en-US" sz="1600" dirty="0"/>
          </a:p>
          <a:p>
            <a:pPr marL="800100" lvl="1" indent="-342900">
              <a:buAutoNum type="arabicPeriod"/>
            </a:pPr>
            <a:endParaRPr lang="en-US" sz="1600" dirty="0"/>
          </a:p>
          <a:p>
            <a:pPr lvl="3"/>
            <a:endParaRPr lang="en-US" sz="1600" dirty="0"/>
          </a:p>
          <a:p>
            <a:r>
              <a:rPr lang="en-US" sz="1600" dirty="0"/>
              <a:t>	</a:t>
            </a:r>
          </a:p>
        </p:txBody>
      </p:sp>
    </p:spTree>
    <p:extLst>
      <p:ext uri="{BB962C8B-B14F-4D97-AF65-F5344CB8AC3E}">
        <p14:creationId xmlns:p14="http://schemas.microsoft.com/office/powerpoint/2010/main" val="944300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1F1B3-6D58-10E0-924B-D39F233215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DACC75-524A-72C6-3DCF-B3D328D4209F}"/>
              </a:ext>
            </a:extLst>
          </p:cNvPr>
          <p:cNvSpPr>
            <a:spLocks noGrp="1"/>
          </p:cNvSpPr>
          <p:nvPr>
            <p:ph type="title"/>
          </p:nvPr>
        </p:nvSpPr>
        <p:spPr>
          <a:xfrm>
            <a:off x="338668" y="-211651"/>
            <a:ext cx="10515600" cy="1325563"/>
          </a:xfrm>
        </p:spPr>
        <p:txBody>
          <a:bodyPr>
            <a:normAutofit/>
          </a:bodyPr>
          <a:lstStyle/>
          <a:p>
            <a:r>
              <a:rPr lang="en-US" sz="3600" dirty="0"/>
              <a:t>User interaction (</a:t>
            </a:r>
            <a:r>
              <a:rPr lang="en-US" sz="3600" dirty="0" err="1"/>
              <a:t>contd</a:t>
            </a:r>
            <a:r>
              <a:rPr lang="en-US" sz="3600" dirty="0"/>
              <a:t>)</a:t>
            </a:r>
          </a:p>
        </p:txBody>
      </p:sp>
      <p:sp>
        <p:nvSpPr>
          <p:cNvPr id="4" name="TextBox 3">
            <a:extLst>
              <a:ext uri="{FF2B5EF4-FFF2-40B4-BE49-F238E27FC236}">
                <a16:creationId xmlns:a16="http://schemas.microsoft.com/office/drawing/2014/main" id="{0AC4DA9D-48D1-7354-CAD4-639C8EF401BF}"/>
              </a:ext>
            </a:extLst>
          </p:cNvPr>
          <p:cNvSpPr txBox="1"/>
          <p:nvPr/>
        </p:nvSpPr>
        <p:spPr>
          <a:xfrm>
            <a:off x="338668" y="860693"/>
            <a:ext cx="11322754" cy="2800767"/>
          </a:xfrm>
          <a:prstGeom prst="rect">
            <a:avLst/>
          </a:prstGeom>
          <a:noFill/>
        </p:spPr>
        <p:txBody>
          <a:bodyPr wrap="square" rtlCol="0">
            <a:spAutoFit/>
          </a:bodyPr>
          <a:lstStyle/>
          <a:p>
            <a:r>
              <a:rPr lang="en-US" sz="1600" dirty="0"/>
              <a:t>8. If the user types something else all together (e.g.: my insurance plan, group benefits enrollment, my overdue learnings…) it needs to be handled as follows,</a:t>
            </a:r>
          </a:p>
          <a:p>
            <a:r>
              <a:rPr lang="en-US" sz="1600" dirty="0"/>
              <a:t>	1. System should use the intelligence to identify the underlying </a:t>
            </a:r>
            <a:r>
              <a:rPr lang="en-US" sz="1600" dirty="0" err="1"/>
              <a:t>usecase</a:t>
            </a:r>
            <a:r>
              <a:rPr lang="en-US" sz="1600" dirty="0"/>
              <a:t> and show a response</a:t>
            </a:r>
          </a:p>
          <a:p>
            <a:r>
              <a:rPr lang="en-US" sz="1600" dirty="0"/>
              <a:t>		-  “&lt;&lt;</a:t>
            </a:r>
            <a:r>
              <a:rPr lang="en-US" sz="1600" dirty="0" err="1"/>
              <a:t>xyz</a:t>
            </a:r>
            <a:r>
              <a:rPr lang="en-US" sz="1600" dirty="0"/>
              <a:t>&gt;&gt; feature is currently not enabled in </a:t>
            </a:r>
            <a:r>
              <a:rPr lang="en-US" sz="1600" dirty="0" err="1"/>
              <a:t>AskP&amp;C</a:t>
            </a:r>
            <a:r>
              <a:rPr lang="en-US" sz="1600" dirty="0"/>
              <a:t>. We are working on making it available to you soon.”</a:t>
            </a:r>
          </a:p>
          <a:p>
            <a:r>
              <a:rPr lang="en-US" sz="1600" dirty="0"/>
              <a:t>		- “You may visit the &lt;&lt;</a:t>
            </a:r>
            <a:r>
              <a:rPr lang="en-US" sz="1600" dirty="0" err="1"/>
              <a:t>abc</a:t>
            </a:r>
            <a:r>
              <a:rPr lang="en-US" sz="1600" dirty="0"/>
              <a:t>&gt;&gt; portal to find more information on this”</a:t>
            </a:r>
          </a:p>
          <a:p>
            <a:endParaRPr lang="en-US" sz="1600" dirty="0"/>
          </a:p>
          <a:p>
            <a:r>
              <a:rPr lang="en-US" sz="1600" dirty="0"/>
              <a:t>	2. If it’s shift related query (swap my shift, shift timings etc.) display the message </a:t>
            </a:r>
          </a:p>
          <a:p>
            <a:r>
              <a:rPr lang="en-US" sz="1600" dirty="0"/>
              <a:t>	-  “&lt;&lt;</a:t>
            </a:r>
            <a:r>
              <a:rPr lang="en-US" sz="1600" dirty="0" err="1"/>
              <a:t>xyz</a:t>
            </a:r>
            <a:r>
              <a:rPr lang="en-US" sz="1600" dirty="0"/>
              <a:t>&gt;&gt; feature is currently not enabled in </a:t>
            </a:r>
            <a:r>
              <a:rPr lang="en-US" sz="1600" dirty="0" err="1"/>
              <a:t>AskP&amp;C</a:t>
            </a:r>
            <a:r>
              <a:rPr lang="en-US" sz="1600" dirty="0"/>
              <a:t>. We are working on making it available to you soon.”</a:t>
            </a:r>
          </a:p>
          <a:p>
            <a:r>
              <a:rPr lang="en-US" sz="1600" dirty="0"/>
              <a:t>		- “You may reach out to your Store Manager for assistance on this”</a:t>
            </a:r>
          </a:p>
          <a:p>
            <a:endParaRPr lang="en-US" sz="1600" dirty="0"/>
          </a:p>
          <a:p>
            <a:endParaRPr lang="en-US" sz="1600" dirty="0"/>
          </a:p>
        </p:txBody>
      </p:sp>
      <p:sp>
        <p:nvSpPr>
          <p:cNvPr id="3" name="TextBox 2">
            <a:extLst>
              <a:ext uri="{FF2B5EF4-FFF2-40B4-BE49-F238E27FC236}">
                <a16:creationId xmlns:a16="http://schemas.microsoft.com/office/drawing/2014/main" id="{DB30B309-91F8-76FB-33A9-FBC8719C3640}"/>
              </a:ext>
            </a:extLst>
          </p:cNvPr>
          <p:cNvSpPr txBox="1"/>
          <p:nvPr/>
        </p:nvSpPr>
        <p:spPr>
          <a:xfrm>
            <a:off x="6000045" y="4796978"/>
            <a:ext cx="5894363" cy="1200329"/>
          </a:xfrm>
          <a:prstGeom prst="rect">
            <a:avLst/>
          </a:prstGeom>
          <a:noFill/>
        </p:spPr>
        <p:txBody>
          <a:bodyPr wrap="square" rtlCol="0">
            <a:spAutoFit/>
          </a:bodyPr>
          <a:lstStyle/>
          <a:p>
            <a:r>
              <a:rPr lang="en-US" b="1" dirty="0">
                <a:solidFill>
                  <a:srgbClr val="FF0000"/>
                </a:solidFill>
              </a:rPr>
              <a:t>What does it entail to make the system intuitive and contextual? How much training does it need and what kind of training data will we need, even for the system to redirect the queries to the right place?</a:t>
            </a:r>
          </a:p>
        </p:txBody>
      </p:sp>
      <p:sp>
        <p:nvSpPr>
          <p:cNvPr id="5" name="TextBox 4">
            <a:extLst>
              <a:ext uri="{FF2B5EF4-FFF2-40B4-BE49-F238E27FC236}">
                <a16:creationId xmlns:a16="http://schemas.microsoft.com/office/drawing/2014/main" id="{02752D41-0C8F-E3F8-CC7E-B0B7C7DA4C9C}"/>
              </a:ext>
            </a:extLst>
          </p:cNvPr>
          <p:cNvSpPr txBox="1"/>
          <p:nvPr/>
        </p:nvSpPr>
        <p:spPr>
          <a:xfrm>
            <a:off x="998806" y="3919814"/>
            <a:ext cx="2391508" cy="1477328"/>
          </a:xfrm>
          <a:prstGeom prst="rect">
            <a:avLst/>
          </a:prstGeom>
          <a:noFill/>
        </p:spPr>
        <p:txBody>
          <a:bodyPr wrap="square" rtlCol="0">
            <a:spAutoFit/>
          </a:bodyPr>
          <a:lstStyle/>
          <a:p>
            <a:r>
              <a:rPr lang="en-US" b="1" dirty="0">
                <a:solidFill>
                  <a:srgbClr val="FF0000"/>
                </a:solidFill>
              </a:rPr>
              <a:t>If we have the knowledge articles, sources etc. we may bring the link in our responses. </a:t>
            </a:r>
          </a:p>
        </p:txBody>
      </p:sp>
    </p:spTree>
    <p:extLst>
      <p:ext uri="{BB962C8B-B14F-4D97-AF65-F5344CB8AC3E}">
        <p14:creationId xmlns:p14="http://schemas.microsoft.com/office/powerpoint/2010/main" val="25195413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865CD-D2B5-C594-2FC7-2F9684B84F3D}"/>
              </a:ext>
            </a:extLst>
          </p:cNvPr>
          <p:cNvSpPr>
            <a:spLocks noGrp="1"/>
          </p:cNvSpPr>
          <p:nvPr>
            <p:ph type="title"/>
          </p:nvPr>
        </p:nvSpPr>
        <p:spPr/>
        <p:txBody>
          <a:bodyPr/>
          <a:lstStyle/>
          <a:p>
            <a:r>
              <a:rPr lang="en-US" dirty="0"/>
              <a:t>Feedback</a:t>
            </a:r>
          </a:p>
        </p:txBody>
      </p:sp>
      <p:sp>
        <p:nvSpPr>
          <p:cNvPr id="3" name="Content Placeholder 2">
            <a:extLst>
              <a:ext uri="{FF2B5EF4-FFF2-40B4-BE49-F238E27FC236}">
                <a16:creationId xmlns:a16="http://schemas.microsoft.com/office/drawing/2014/main" id="{FD5160E4-F33F-C7F1-EA70-59B92B22CF1E}"/>
              </a:ext>
            </a:extLst>
          </p:cNvPr>
          <p:cNvSpPr>
            <a:spLocks noGrp="1"/>
          </p:cNvSpPr>
          <p:nvPr>
            <p:ph idx="1"/>
          </p:nvPr>
        </p:nvSpPr>
        <p:spPr>
          <a:xfrm>
            <a:off x="838200" y="1406769"/>
            <a:ext cx="10515600" cy="4770194"/>
          </a:xfrm>
        </p:spPr>
        <p:txBody>
          <a:bodyPr/>
          <a:lstStyle/>
          <a:p>
            <a:r>
              <a:rPr lang="en-US" dirty="0"/>
              <a:t>Post user interaction, feedback capture should take place</a:t>
            </a:r>
          </a:p>
          <a:p>
            <a:pPr lvl="1"/>
            <a:r>
              <a:rPr lang="en-US" dirty="0"/>
              <a:t>User should be given the option to  - thumbs up (I like this response), thumbs down (I dislike this response), copy (Copy response), regenerate (Regenerate response) options (Refer to the screen shot from </a:t>
            </a:r>
            <a:r>
              <a:rPr lang="en-US" dirty="0" err="1"/>
              <a:t>AskIBM</a:t>
            </a:r>
            <a:r>
              <a:rPr lang="en-US" dirty="0"/>
              <a:t> below.</a:t>
            </a:r>
          </a:p>
        </p:txBody>
      </p:sp>
      <p:pic>
        <p:nvPicPr>
          <p:cNvPr id="5" name="Picture 4">
            <a:extLst>
              <a:ext uri="{FF2B5EF4-FFF2-40B4-BE49-F238E27FC236}">
                <a16:creationId xmlns:a16="http://schemas.microsoft.com/office/drawing/2014/main" id="{A4A9F220-EB8C-B1C7-8B4F-A7311000B452}"/>
              </a:ext>
            </a:extLst>
          </p:cNvPr>
          <p:cNvPicPr>
            <a:picLocks noChangeAspect="1"/>
          </p:cNvPicPr>
          <p:nvPr/>
        </p:nvPicPr>
        <p:blipFill>
          <a:blip r:embed="rId2"/>
          <a:stretch>
            <a:fillRect/>
          </a:stretch>
        </p:blipFill>
        <p:spPr>
          <a:xfrm>
            <a:off x="1120628" y="3580487"/>
            <a:ext cx="7772400" cy="2731413"/>
          </a:xfrm>
          <a:prstGeom prst="rect">
            <a:avLst/>
          </a:prstGeom>
        </p:spPr>
      </p:pic>
    </p:spTree>
    <p:extLst>
      <p:ext uri="{BB962C8B-B14F-4D97-AF65-F5344CB8AC3E}">
        <p14:creationId xmlns:p14="http://schemas.microsoft.com/office/powerpoint/2010/main" val="3403097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B5868-70CA-38EA-D336-8D4785B86508}"/>
              </a:ext>
            </a:extLst>
          </p:cNvPr>
          <p:cNvSpPr>
            <a:spLocks noGrp="1"/>
          </p:cNvSpPr>
          <p:nvPr>
            <p:ph type="title"/>
          </p:nvPr>
        </p:nvSpPr>
        <p:spPr/>
        <p:txBody>
          <a:bodyPr/>
          <a:lstStyle/>
          <a:p>
            <a:r>
              <a:rPr lang="en-US" dirty="0"/>
              <a:t>Feedback (continued)</a:t>
            </a:r>
          </a:p>
        </p:txBody>
      </p:sp>
      <p:sp>
        <p:nvSpPr>
          <p:cNvPr id="3" name="Content Placeholder 2">
            <a:extLst>
              <a:ext uri="{FF2B5EF4-FFF2-40B4-BE49-F238E27FC236}">
                <a16:creationId xmlns:a16="http://schemas.microsoft.com/office/drawing/2014/main" id="{F9502AB2-389C-7917-DC90-18F8354CA3A3}"/>
              </a:ext>
            </a:extLst>
          </p:cNvPr>
          <p:cNvSpPr>
            <a:spLocks noGrp="1"/>
          </p:cNvSpPr>
          <p:nvPr>
            <p:ph idx="1"/>
          </p:nvPr>
        </p:nvSpPr>
        <p:spPr/>
        <p:txBody>
          <a:bodyPr/>
          <a:lstStyle/>
          <a:p>
            <a:r>
              <a:rPr lang="en-US" dirty="0"/>
              <a:t>Flow for when user likes or dislikes responses</a:t>
            </a:r>
          </a:p>
        </p:txBody>
      </p:sp>
      <p:pic>
        <p:nvPicPr>
          <p:cNvPr id="5" name="Picture 4">
            <a:extLst>
              <a:ext uri="{FF2B5EF4-FFF2-40B4-BE49-F238E27FC236}">
                <a16:creationId xmlns:a16="http://schemas.microsoft.com/office/drawing/2014/main" id="{1D5EFD24-7DF8-51A8-8DAB-09A5F0F37FB9}"/>
              </a:ext>
            </a:extLst>
          </p:cNvPr>
          <p:cNvPicPr>
            <a:picLocks noChangeAspect="1"/>
          </p:cNvPicPr>
          <p:nvPr/>
        </p:nvPicPr>
        <p:blipFill>
          <a:blip r:embed="rId2"/>
          <a:stretch>
            <a:fillRect/>
          </a:stretch>
        </p:blipFill>
        <p:spPr>
          <a:xfrm>
            <a:off x="465212" y="2392584"/>
            <a:ext cx="5012136" cy="3784379"/>
          </a:xfrm>
          <a:prstGeom prst="rect">
            <a:avLst/>
          </a:prstGeom>
        </p:spPr>
      </p:pic>
      <p:pic>
        <p:nvPicPr>
          <p:cNvPr id="7" name="Picture 6">
            <a:extLst>
              <a:ext uri="{FF2B5EF4-FFF2-40B4-BE49-F238E27FC236}">
                <a16:creationId xmlns:a16="http://schemas.microsoft.com/office/drawing/2014/main" id="{0D34BC67-4C67-BBBF-9D0E-40CE655F2A3B}"/>
              </a:ext>
            </a:extLst>
          </p:cNvPr>
          <p:cNvPicPr>
            <a:picLocks noChangeAspect="1"/>
          </p:cNvPicPr>
          <p:nvPr/>
        </p:nvPicPr>
        <p:blipFill>
          <a:blip r:embed="rId3"/>
          <a:stretch>
            <a:fillRect/>
          </a:stretch>
        </p:blipFill>
        <p:spPr>
          <a:xfrm>
            <a:off x="5713224" y="2334769"/>
            <a:ext cx="4556192" cy="3840024"/>
          </a:xfrm>
          <a:prstGeom prst="rect">
            <a:avLst/>
          </a:prstGeom>
        </p:spPr>
      </p:pic>
    </p:spTree>
    <p:extLst>
      <p:ext uri="{BB962C8B-B14F-4D97-AF65-F5344CB8AC3E}">
        <p14:creationId xmlns:p14="http://schemas.microsoft.com/office/powerpoint/2010/main" val="2700472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69F38-49A1-8066-7AB4-84F072CF2D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57E732-13E6-CF8A-605A-171ED3FB79F7}"/>
              </a:ext>
            </a:extLst>
          </p:cNvPr>
          <p:cNvSpPr>
            <a:spLocks noGrp="1"/>
          </p:cNvSpPr>
          <p:nvPr>
            <p:ph type="title"/>
          </p:nvPr>
        </p:nvSpPr>
        <p:spPr/>
        <p:txBody>
          <a:bodyPr/>
          <a:lstStyle/>
          <a:p>
            <a:r>
              <a:rPr lang="en-US" dirty="0"/>
              <a:t>Feedback (continued)</a:t>
            </a:r>
          </a:p>
        </p:txBody>
      </p:sp>
      <p:sp>
        <p:nvSpPr>
          <p:cNvPr id="3" name="Content Placeholder 2">
            <a:extLst>
              <a:ext uri="{FF2B5EF4-FFF2-40B4-BE49-F238E27FC236}">
                <a16:creationId xmlns:a16="http://schemas.microsoft.com/office/drawing/2014/main" id="{A29FDA72-9FAA-D938-3753-4EA16C7751B3}"/>
              </a:ext>
            </a:extLst>
          </p:cNvPr>
          <p:cNvSpPr>
            <a:spLocks noGrp="1"/>
          </p:cNvSpPr>
          <p:nvPr>
            <p:ph idx="1"/>
          </p:nvPr>
        </p:nvSpPr>
        <p:spPr/>
        <p:txBody>
          <a:bodyPr/>
          <a:lstStyle/>
          <a:p>
            <a:r>
              <a:rPr lang="en-US" dirty="0"/>
              <a:t>Regenerate response should run the query again and provide a response. </a:t>
            </a:r>
          </a:p>
        </p:txBody>
      </p:sp>
    </p:spTree>
    <p:extLst>
      <p:ext uri="{BB962C8B-B14F-4D97-AF65-F5344CB8AC3E}">
        <p14:creationId xmlns:p14="http://schemas.microsoft.com/office/powerpoint/2010/main" val="8444405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195</TotalTime>
  <Words>1001</Words>
  <Application>Microsoft Macintosh PowerPoint</Application>
  <PresentationFormat>Widescreen</PresentationFormat>
  <Paragraphs>81</Paragraphs>
  <Slides>11</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IKEA PoC </vt:lpstr>
      <vt:lpstr>Logo to be used</vt:lpstr>
      <vt:lpstr>Colour themes to be used</vt:lpstr>
      <vt:lpstr>AskP&amp;C icon/brand</vt:lpstr>
      <vt:lpstr>Before login (use only if there is a login page)</vt:lpstr>
      <vt:lpstr>Post login, greetings &amp; messages (MS Teams interface)</vt:lpstr>
      <vt:lpstr>User interaction</vt:lpstr>
      <vt:lpstr>User interaction (contd)</vt:lpstr>
      <vt:lpstr>Feedback</vt:lpstr>
      <vt:lpstr>Feedback (continued)</vt:lpstr>
      <vt:lpstr>Feedback (continued)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NALINI MANURU</dc:creator>
  <cp:lastModifiedBy>NALINI MANURU</cp:lastModifiedBy>
  <cp:revision>1</cp:revision>
  <dcterms:created xsi:type="dcterms:W3CDTF">2026-09-09T00:55:23Z</dcterms:created>
  <dcterms:modified xsi:type="dcterms:W3CDTF">2026-09-09T04:11:04Z</dcterms:modified>
</cp:coreProperties>
</file>